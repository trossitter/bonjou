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">
    <p:bg>
      <p:bgPr>
        <a:solidFill>
          <a:srgbClr val="F7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7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a_polished_high_detail_digital_illustration_compo.png">    </p:cNvPr>
          <p:cNvPicPr>
            <a:picLocks noChangeAspect="1"/>
          </p:cNvPicPr>
          <p:nvPr/>
        </p:nvPicPr>
        <p:blipFill>
          <a:blip r:embed="rId1"/>
          <a:srcRect l="21860" r="21860" t="0" b="0"/>
          <a:stretch/>
        </p:blipFill>
        <p:spPr>
          <a:xfrm>
            <a:off x="5897880" y="274320"/>
            <a:ext cx="5989320" cy="598932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D71920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201168" y="0"/>
            <a:ext cx="109728" cy="6858000"/>
          </a:xfrm>
          <a:prstGeom prst="rect">
            <a:avLst/>
          </a:prstGeom>
          <a:solidFill>
            <a:srgbClr val="062A78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530352" y="384048"/>
            <a:ext cx="3474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60708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Designed by Thalia</a:t>
            </a:r>
            <a:endParaRPr lang="en-US" sz="850" dirty="0"/>
          </a:p>
        </p:txBody>
      </p:sp>
      <p:sp>
        <p:nvSpPr>
          <p:cNvPr id="6" name="Text 3"/>
          <p:cNvSpPr/>
          <p:nvPr/>
        </p:nvSpPr>
        <p:spPr>
          <a:xfrm>
            <a:off x="530352" y="658368"/>
            <a:ext cx="2834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061A4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Bonjou</a:t>
            </a:r>
            <a:endParaRPr lang="en-US" sz="4600" dirty="0"/>
          </a:p>
        </p:txBody>
      </p:sp>
      <p:sp>
        <p:nvSpPr>
          <p:cNvPr id="7" name="Text 4"/>
          <p:cNvSpPr/>
          <p:nvPr/>
        </p:nvSpPr>
        <p:spPr>
          <a:xfrm>
            <a:off x="530352" y="1335024"/>
            <a:ext cx="50749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D7192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WhatsApp-native field ops inbox for Haiti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530352" y="1874520"/>
            <a:ext cx="4983480" cy="7498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2636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Turns informal field-agent messages into translated, triaged, searchable tickets for US operations and engineering teams.</a:t>
            </a:r>
            <a:endParaRPr lang="en-US" sz="1700" dirty="0"/>
          </a:p>
        </p:txBody>
      </p:sp>
      <p:sp>
        <p:nvSpPr>
          <p:cNvPr id="9" name="Shape 6"/>
          <p:cNvSpPr/>
          <p:nvPr/>
        </p:nvSpPr>
        <p:spPr>
          <a:xfrm>
            <a:off x="530352" y="2880360"/>
            <a:ext cx="5047488" cy="932688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DFE8F4">
                <a:alpha val="90000"/>
              </a:srgbClr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749808" y="3035808"/>
            <a:ext cx="1051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62A7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1,000+</a:t>
            </a:r>
            <a:endParaRPr lang="en-US" sz="2400" dirty="0"/>
          </a:p>
        </p:txBody>
      </p:sp>
      <p:sp>
        <p:nvSpPr>
          <p:cNvPr id="11" name="Text 8"/>
          <p:cNvSpPr/>
          <p:nvPr/>
        </p:nvSpPr>
        <p:spPr>
          <a:xfrm>
            <a:off x="749808" y="3401568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0708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field agents in scope</a:t>
            </a:r>
            <a:endParaRPr lang="en-US" sz="850" dirty="0"/>
          </a:p>
        </p:txBody>
      </p:sp>
      <p:sp>
        <p:nvSpPr>
          <p:cNvPr id="12" name="Text 9"/>
          <p:cNvSpPr/>
          <p:nvPr/>
        </p:nvSpPr>
        <p:spPr>
          <a:xfrm>
            <a:off x="1993392" y="3035808"/>
            <a:ext cx="1051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62A7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10.1M</a:t>
            </a:r>
            <a:endParaRPr lang="en-US" sz="2400" dirty="0"/>
          </a:p>
        </p:txBody>
      </p:sp>
      <p:sp>
        <p:nvSpPr>
          <p:cNvPr id="13" name="Text 10"/>
          <p:cNvSpPr/>
          <p:nvPr/>
        </p:nvSpPr>
        <p:spPr>
          <a:xfrm>
            <a:off x="1993392" y="3401568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0708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mobile connections</a:t>
            </a:r>
            <a:endParaRPr lang="en-US" sz="850" dirty="0"/>
          </a:p>
        </p:txBody>
      </p:sp>
      <p:sp>
        <p:nvSpPr>
          <p:cNvPr id="14" name="Text 11"/>
          <p:cNvSpPr/>
          <p:nvPr/>
        </p:nvSpPr>
        <p:spPr>
          <a:xfrm>
            <a:off x="3310128" y="3035808"/>
            <a:ext cx="1051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62A7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39.3%</a:t>
            </a:r>
            <a:endParaRPr lang="en-US" sz="2400" dirty="0"/>
          </a:p>
        </p:txBody>
      </p:sp>
      <p:sp>
        <p:nvSpPr>
          <p:cNvPr id="15" name="Text 12"/>
          <p:cNvSpPr/>
          <p:nvPr/>
        </p:nvSpPr>
        <p:spPr>
          <a:xfrm>
            <a:off x="3310128" y="3401568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0708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internet penetration</a:t>
            </a:r>
            <a:endParaRPr lang="en-US" sz="850" dirty="0"/>
          </a:p>
        </p:txBody>
      </p:sp>
      <p:sp>
        <p:nvSpPr>
          <p:cNvPr id="16" name="Text 13"/>
          <p:cNvSpPr/>
          <p:nvPr/>
        </p:nvSpPr>
        <p:spPr>
          <a:xfrm>
            <a:off x="4572000" y="3035808"/>
            <a:ext cx="8046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62A7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52 yrs</a:t>
            </a:r>
            <a:endParaRPr lang="en-US" sz="2400" dirty="0"/>
          </a:p>
        </p:txBody>
      </p:sp>
      <p:sp>
        <p:nvSpPr>
          <p:cNvPr id="17" name="Text 14"/>
          <p:cNvSpPr/>
          <p:nvPr/>
        </p:nvSpPr>
        <p:spPr>
          <a:xfrm>
            <a:off x="4572000" y="3401568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0708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World Cup return</a:t>
            </a:r>
            <a:endParaRPr lang="en-US" sz="850" dirty="0"/>
          </a:p>
        </p:txBody>
      </p:sp>
      <p:sp>
        <p:nvSpPr>
          <p:cNvPr id="18" name="Text 15"/>
          <p:cNvSpPr/>
          <p:nvPr/>
        </p:nvSpPr>
        <p:spPr>
          <a:xfrm>
            <a:off x="530352" y="4133088"/>
            <a:ext cx="2103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61A4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MVP demo flow</a:t>
            </a:r>
            <a:endParaRPr lang="en-US" sz="2000" dirty="0"/>
          </a:p>
        </p:txBody>
      </p:sp>
      <p:sp>
        <p:nvSpPr>
          <p:cNvPr id="19" name="Shape 16"/>
          <p:cNvSpPr/>
          <p:nvPr/>
        </p:nvSpPr>
        <p:spPr>
          <a:xfrm>
            <a:off x="566928" y="4553712"/>
            <a:ext cx="201168" cy="201168"/>
          </a:xfrm>
          <a:prstGeom prst="ellipse">
            <a:avLst/>
          </a:prstGeom>
          <a:solidFill>
            <a:srgbClr val="D71920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868680" y="4535424"/>
            <a:ext cx="1691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61A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Kreyòl WhatsApp text</a:t>
            </a:r>
            <a:endParaRPr lang="en-US" sz="1150" dirty="0"/>
          </a:p>
        </p:txBody>
      </p:sp>
      <p:sp>
        <p:nvSpPr>
          <p:cNvPr id="21" name="Text 18"/>
          <p:cNvSpPr/>
          <p:nvPr/>
        </p:nvSpPr>
        <p:spPr>
          <a:xfrm>
            <a:off x="2606040" y="4535424"/>
            <a:ext cx="29992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4051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Agent reports app, POS, login, or transaction issue.</a:t>
            </a:r>
            <a:endParaRPr lang="en-US" sz="1050" dirty="0"/>
          </a:p>
        </p:txBody>
      </p:sp>
      <p:sp>
        <p:nvSpPr>
          <p:cNvPr id="22" name="Shape 19"/>
          <p:cNvSpPr/>
          <p:nvPr/>
        </p:nvSpPr>
        <p:spPr>
          <a:xfrm>
            <a:off x="566928" y="4965192"/>
            <a:ext cx="201168" cy="201168"/>
          </a:xfrm>
          <a:prstGeom prst="ellipse">
            <a:avLst/>
          </a:prstGeom>
          <a:solidFill>
            <a:srgbClr val="062A78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868680" y="4946904"/>
            <a:ext cx="1691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61A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English ticket</a:t>
            </a:r>
            <a:endParaRPr lang="en-US" sz="1150" dirty="0"/>
          </a:p>
        </p:txBody>
      </p:sp>
      <p:sp>
        <p:nvSpPr>
          <p:cNvPr id="24" name="Text 21"/>
          <p:cNvSpPr/>
          <p:nvPr/>
        </p:nvSpPr>
        <p:spPr>
          <a:xfrm>
            <a:off x="2606040" y="4946904"/>
            <a:ext cx="29992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4051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Bonjou preserves original text and shows translation.</a:t>
            </a:r>
            <a:endParaRPr lang="en-US" sz="1050" dirty="0"/>
          </a:p>
        </p:txBody>
      </p:sp>
      <p:sp>
        <p:nvSpPr>
          <p:cNvPr id="25" name="Shape 22"/>
          <p:cNvSpPr/>
          <p:nvPr/>
        </p:nvSpPr>
        <p:spPr>
          <a:xfrm>
            <a:off x="566928" y="5376672"/>
            <a:ext cx="201168" cy="201168"/>
          </a:xfrm>
          <a:prstGeom prst="ellipse">
            <a:avLst/>
          </a:prstGeom>
          <a:solidFill>
            <a:srgbClr val="D71920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868680" y="5358384"/>
            <a:ext cx="1691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61A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Triage + pattern</a:t>
            </a:r>
            <a:endParaRPr lang="en-US" sz="1150" dirty="0"/>
          </a:p>
        </p:txBody>
      </p:sp>
      <p:sp>
        <p:nvSpPr>
          <p:cNvPr id="27" name="Text 24"/>
          <p:cNvSpPr/>
          <p:nvPr/>
        </p:nvSpPr>
        <p:spPr>
          <a:xfrm>
            <a:off x="2606040" y="5358384"/>
            <a:ext cx="29992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4051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Ops sets severity and sees repeat incidents.</a:t>
            </a:r>
            <a:endParaRPr lang="en-US" sz="1050" dirty="0"/>
          </a:p>
        </p:txBody>
      </p:sp>
      <p:sp>
        <p:nvSpPr>
          <p:cNvPr id="28" name="Shape 25"/>
          <p:cNvSpPr/>
          <p:nvPr/>
        </p:nvSpPr>
        <p:spPr>
          <a:xfrm>
            <a:off x="566928" y="5788152"/>
            <a:ext cx="201168" cy="201168"/>
          </a:xfrm>
          <a:prstGeom prst="ellipse">
            <a:avLst/>
          </a:prstGeom>
          <a:solidFill>
            <a:srgbClr val="062A78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868680" y="5769864"/>
            <a:ext cx="1691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61A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Translated reply</a:t>
            </a:r>
            <a:endParaRPr lang="en-US" sz="1150" dirty="0"/>
          </a:p>
        </p:txBody>
      </p:sp>
      <p:sp>
        <p:nvSpPr>
          <p:cNvPr id="30" name="Text 27"/>
          <p:cNvSpPr/>
          <p:nvPr/>
        </p:nvSpPr>
        <p:spPr>
          <a:xfrm>
            <a:off x="2606040" y="5769864"/>
            <a:ext cx="29992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4051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Engineer answers in English; agent receives local-language response.</a:t>
            </a:r>
            <a:endParaRPr lang="en-US" sz="1050" dirty="0"/>
          </a:p>
        </p:txBody>
      </p:sp>
      <p:sp>
        <p:nvSpPr>
          <p:cNvPr id="31" name="Shape 28"/>
          <p:cNvSpPr/>
          <p:nvPr/>
        </p:nvSpPr>
        <p:spPr>
          <a:xfrm>
            <a:off x="5897880" y="6355080"/>
            <a:ext cx="5989320" cy="219456"/>
          </a:xfrm>
          <a:prstGeom prst="roundRect">
            <a:avLst>
              <a:gd name="adj" fmla="val 33333"/>
            </a:avLst>
          </a:prstGeom>
          <a:solidFill>
            <a:srgbClr val="FFFFFF">
              <a:alpha val="92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6053328" y="6382512"/>
            <a:ext cx="5577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70" dirty="0">
                <a:solidFill>
                  <a:srgbClr val="2636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MVP scope: text-first WhatsApp intake, translation, ticketing, dashboard, Postgres, Docker/Railway. Audio ingestion intentionally deferred.</a:t>
            </a:r>
            <a:endParaRPr lang="en-US" sz="770" dirty="0"/>
          </a:p>
        </p:txBody>
      </p:sp>
      <p:sp>
        <p:nvSpPr>
          <p:cNvPr id="33" name="Text 30"/>
          <p:cNvSpPr/>
          <p:nvPr/>
        </p:nvSpPr>
        <p:spPr>
          <a:xfrm>
            <a:off x="530352" y="6547104"/>
            <a:ext cx="52120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7A879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Sources: project brief; DataReportal Digital 2026 Haiti; FIFA Haitian Football Federation profile; Reuters, May 2026.</a:t>
            </a:r>
            <a:endParaRPr lang="en-US" sz="68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Designed by Thalia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Bonjou: WhatsApp-native field ops inbox for Haiti</dc:title>
  <dc:subject>Bonjou MVP one-pager</dc:subject>
  <dc:creator>Designed by Thalia</dc:creator>
  <cp:lastModifiedBy>Designed by Thalia</cp:lastModifiedBy>
  <cp:revision>1</cp:revision>
  <dcterms:created xsi:type="dcterms:W3CDTF">2026-05-23T19:09:16Z</dcterms:created>
  <dcterms:modified xsi:type="dcterms:W3CDTF">2026-05-23T19:09:16Z</dcterms:modified>
</cp:coreProperties>
</file>